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Lato" panose="020F0502020204030203" pitchFamily="34" charset="0"/>
      <p:regular r:id="rId14"/>
    </p:embeddedFont>
    <p:embeddedFont>
      <p:font typeface="La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64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8546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IoT-Based Air Quality Monitoring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450233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Pollution Analysis and Health Alert Notifications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smart environmental monitoring solution designed to protect public health in urban, industrial, and residential areas through continuous IoT-enabled air quality sensing and intelligent alerts.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4C497-C031-0906-F1E7-939BF5C4993E}"/>
              </a:ext>
            </a:extLst>
          </p:cNvPr>
          <p:cNvSpPr txBox="1"/>
          <p:nvPr/>
        </p:nvSpPr>
        <p:spPr>
          <a:xfrm>
            <a:off x="10306735" y="5924939"/>
            <a:ext cx="1790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dirty="0"/>
              <a:t>NADULA SAIRAM</a:t>
            </a:r>
            <a:br>
              <a:rPr lang="en-IN" dirty="0"/>
            </a:br>
            <a:r>
              <a:rPr lang="en-IN" dirty="0"/>
              <a:t>323129520092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504" y="483295"/>
            <a:ext cx="4418398" cy="589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1338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50849" y="1208385"/>
            <a:ext cx="3182362" cy="5108277"/>
          </a:xfrm>
          <a:prstGeom prst="roundRect">
            <a:avLst>
              <a:gd name="adj" fmla="val 3475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04336" y="1333103"/>
            <a:ext cx="28753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Core Challenge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4336" y="1697732"/>
            <a:ext cx="2875387" cy="211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 pollution creates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significant health risks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environmental challenges for communities worldwide. Yet the systems meant to protect us are falling short.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Citizens and environmental authorities urgently need intelligent systems capable of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continuously monitoring air quality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issuing real-time health alerts when pollution levels exceed safe limits.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3575" y="1348680"/>
            <a:ext cx="2961110" cy="16002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52310" y="1521222"/>
            <a:ext cx="253983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 Coverage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52310" y="1885851"/>
            <a:ext cx="2539837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Traditional monitoring relies on sparse, fixed monitoring stations that cannot capture localized pollution events.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3575" y="3073698"/>
            <a:ext cx="2961110" cy="13776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52310" y="3246239"/>
            <a:ext cx="253983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Continuous Data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252310" y="3610868"/>
            <a:ext cx="2539837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Existing approaches fail to provide continuous, real-time environmental data across affected areas.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3575" y="4576068"/>
            <a:ext cx="2961110" cy="16002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52310" y="4748609"/>
            <a:ext cx="253983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Delayed Alerts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252310" y="5113238"/>
            <a:ext cx="2539837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Without real-time systems, health alerts are not generated promptly when pollution exceeds safe thresholds.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85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Solution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84313"/>
            <a:ext cx="108687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IoT-Based Air Quality Monitoring System that continuously measures, analyzes, and reports environmental pollution conditions in real time.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40459"/>
            <a:ext cx="5434373" cy="7206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552" y="3132733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 Sensors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1552" y="3517205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Continuously measure air pollution levels across deployment areas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240459"/>
            <a:ext cx="5434373" cy="720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75925" y="3132733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Centralized Platform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75925" y="3517205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analysis of collected environmental data via cloud connectivity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60255"/>
            <a:ext cx="5434373" cy="720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552" y="515252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Interface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41552" y="5537002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User-friendly monitoring interface for environmental conditions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260255"/>
            <a:ext cx="5434373" cy="7206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75925" y="515252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Health Alerts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275925" y="5537002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Timely identification of unsafe conditions and automatic alert generation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47502"/>
            <a:ext cx="3579227" cy="35793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92919" y="1969393"/>
            <a:ext cx="6943551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Sensors and Parameters Monitored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592919" y="2518668"/>
            <a:ext cx="694355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continuously measures the following environmental parameters to provide a comprehensive picture of current air quality and pollution levels: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1475" y="4465935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506" y="4613970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PM2.5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9506" y="4899124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Fine particulate matter — deepest lung penetration risk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05202" y="4465935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53232" y="4613970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PM10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553232" y="4899124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Coarse particulate matter — respiratory irritant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8928" y="4465935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6959" y="4613970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96959" y="4899124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Carbon Monoxide — toxic gas from combustion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892655" y="4465935"/>
            <a:ext cx="2637565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0686" y="4613970"/>
            <a:ext cx="23415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040686" y="4899124"/>
            <a:ext cx="234150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Carbon Dioxide — indicator of ventilation quality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1475" y="5550297"/>
            <a:ext cx="5381193" cy="779661"/>
          </a:xfrm>
          <a:prstGeom prst="roundRect">
            <a:avLst>
              <a:gd name="adj" fmla="val 763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506" y="5698331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Temp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9506" y="5983486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Temperature — environmental condition baseline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48928" y="5550297"/>
            <a:ext cx="5381292" cy="779661"/>
          </a:xfrm>
          <a:prstGeom prst="roundRect">
            <a:avLst>
              <a:gd name="adj" fmla="val 763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6959" y="5698331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Humidity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296959" y="5983486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Relative humidity — affects pollutant behavior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86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Components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672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component plays a defined role in delivering continuous, reliable air quality monitoring from the field to the user.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82341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736181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Air Quality Sensors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144863"/>
            <a:ext cx="25399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PM2.5, PM10, CO, and CO₂ sensors capture pollutant concentrations; temperature and humidity sensors record environmental conditions.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82341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736181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 Communication Modules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440138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Transmit collected sensor data wirelessly to the cloud platform, enabling seamless real-time data flow from field devices.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82341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736181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Connectivity &amp; Platform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440138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centralized monitoring platform receives, processes, and analyzes environmental data, computing AQI and identifying pollution trends.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82341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73618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Interface &amp; Alerts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144863"/>
            <a:ext cx="2540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secure, user-friendly interface displays real-time data. The health alert notification mechanism triggers warnings when safe limits are exceeded.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330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Working Process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29035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seamless end-to-end pipeline from environmental sensing to actionable health alerts: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727597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Ingest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Transmit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56427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Record Conditions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56427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Measure Pollutants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Collect Data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832475"/>
            <a:ext cx="108687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automated pipeline ensures that from the moment a sensor detects a change in air quality, the system responds — processing data, computing the Air Quality Index, and notifying users and authorities before conditions become dangerous.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" y="483295"/>
            <a:ext cx="4418398" cy="589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1777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Pollution Analysis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233360" y="1353542"/>
            <a:ext cx="29611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the System Analyzes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03546" y="1786533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AQI Monitoring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03546" y="2151162"/>
            <a:ext cx="249092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Air Quality Index computation from live sensor feeds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03546" y="2898775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Pollution Trend Analysis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03546" y="3263404"/>
            <a:ext cx="249092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Identifies rising or falling pollution patterns over time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03546" y="4011017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Historical Records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03546" y="4375646"/>
            <a:ext cx="249092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Maintains air quality history for long-term environmental assessment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03546" y="5123259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Threshold Detection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03546" y="5487888"/>
            <a:ext cx="2490924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Identifies conditions exceeding safe limits and triggers real-time health alert notifications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75460" y="1353542"/>
            <a:ext cx="29611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575460" y="1718171"/>
            <a:ext cx="2961110" cy="1893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analysis empowers both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citizens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environmental authorities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understand changing pollution conditions as they happen — not hours or days later.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continuously monitoring sensor status alongside environmental measurements, the system ensures data integrity and reliable alert generation at all times.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75460" y="3751858"/>
            <a:ext cx="2961110" cy="1414264"/>
          </a:xfrm>
          <a:prstGeom prst="roundRect">
            <a:avLst>
              <a:gd name="adj" fmla="val 4561"/>
            </a:avLst>
          </a:prstGeom>
          <a:solidFill>
            <a:srgbClr val="E8E8E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948" y="3951982"/>
            <a:ext cx="191884" cy="1534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074320" y="3902373"/>
            <a:ext cx="2308763" cy="111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pollution levels exceed safe thresholds, health alert notifications are generated immediately — enabling timely preventive action.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Monitoring Dashboard and Alerts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874000" cy="5874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03" y="3667621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Single Platform for Air Quality Intelligence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72403" y="3862487"/>
            <a:ext cx="476406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centralized interactive dashboard consolidates all monitoring information into one accessible interface, enabling rapid understanding and response.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661475" y="6919317"/>
            <a:ext cx="2681717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628" y="7026473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AQI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628" y="7202388"/>
            <a:ext cx="24674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Air Quality Index with color-coded status indicators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390418" y="6919317"/>
            <a:ext cx="2681816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97572" y="7026473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Pollution Trends &amp; History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97572" y="7202388"/>
            <a:ext cx="24675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Trend charts and historical records for pattern recognition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119461" y="6919317"/>
            <a:ext cx="2681717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26615" y="7026473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Sensor Status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26615" y="7202388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health and connectivity status of all deployed sensors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848404" y="6919317"/>
            <a:ext cx="2681816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55558" y="7026473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Health Alert Notifications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955558" y="7202388"/>
            <a:ext cx="24675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alerts dispatched when pollution exceeds safe limits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692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Benefits and Applications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93788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Benefits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70211"/>
            <a:ext cx="302709" cy="3027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769864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 Monitoring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036564"/>
            <a:ext cx="5286739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Uninterrupted air quality data collection with real-time pollution analysis and improved environmental awareness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09341"/>
            <a:ext cx="302709" cy="3027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2908995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Public Health Protection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61475" y="3175695"/>
            <a:ext cx="528673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Timely health alerts and support for preventive measures when pollution levels become unsafe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89623"/>
            <a:ext cx="302709" cy="3027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889276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Scalable &amp; Secure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61475" y="4155976"/>
            <a:ext cx="528673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Scalable deployment with secure monitoring infrastructure adaptable to diverse environments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249831" y="1093788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 Areas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249831" y="1360488"/>
            <a:ext cx="5286739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is suitable for deployment across a wide range of environments where air quality directly impacts human health and well-being: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61475" y="4489252"/>
            <a:ext cx="2658996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8869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79" y="4716562"/>
            <a:ext cx="163409" cy="1634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8869" y="5057378"/>
            <a:ext cx="240420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Cities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3397959" y="4489252"/>
            <a:ext cx="2659095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525352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25263" y="4716562"/>
            <a:ext cx="163409" cy="1634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25352" y="5057378"/>
            <a:ext cx="24043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Schools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134542" y="4489252"/>
            <a:ext cx="2659095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61936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1846" y="4716562"/>
            <a:ext cx="163409" cy="1634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61936" y="5057378"/>
            <a:ext cx="24043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Hospitals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8871125" y="4489252"/>
            <a:ext cx="2659095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998519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98429" y="4716562"/>
            <a:ext cx="163409" cy="16341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998519" y="5057378"/>
            <a:ext cx="24043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Industries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61475" y="5451475"/>
            <a:ext cx="5395579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88869" y="5578872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779" y="5678785"/>
            <a:ext cx="163409" cy="16341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88869" y="6019602"/>
            <a:ext cx="51407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Environmental Agencies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6134542" y="5451475"/>
            <a:ext cx="5395678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261936" y="5578872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61846" y="5678785"/>
            <a:ext cx="163409" cy="16341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261936" y="6019602"/>
            <a:ext cx="514089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Residential Communities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2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5562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233360" y="1310977"/>
            <a:ext cx="629686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proposed </a:t>
            </a:r>
            <a:r>
              <a:rPr lang="en-US" sz="13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IoT-Based Air Quality Monitoring System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delivers a comprehensive, intelligent solution to one of the most pressing environmental challenges of our time.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33360" y="2295029"/>
            <a:ext cx="6296860" cy="3053358"/>
          </a:xfrm>
          <a:prstGeom prst="roundRect">
            <a:avLst>
              <a:gd name="adj" fmla="val 239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2301379"/>
            <a:ext cx="3142080" cy="1788120"/>
          </a:xfrm>
          <a:custGeom>
            <a:avLst/>
            <a:gdLst/>
            <a:ahLst/>
            <a:cxnLst/>
            <a:rect l="l" t="t" r="r" b="b"/>
            <a:pathLst>
              <a:path w="3142080" h="1788120">
                <a:moveTo>
                  <a:pt x="60988" y="0"/>
                </a:moveTo>
                <a:lnTo>
                  <a:pt x="3142080" y="0"/>
                </a:lnTo>
                <a:lnTo>
                  <a:pt x="3142080" y="1788120"/>
                </a:lnTo>
                <a:lnTo>
                  <a:pt x="0" y="1788120"/>
                </a:lnTo>
                <a:lnTo>
                  <a:pt x="0" y="60990"/>
                </a:lnTo>
                <a:arcTo wR="60988" hR="60990" stAng="10800000" swAng="5400000"/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8" name="Text 5"/>
          <p:cNvSpPr/>
          <p:nvPr/>
        </p:nvSpPr>
        <p:spPr>
          <a:xfrm>
            <a:off x="5413934" y="2475607"/>
            <a:ext cx="279363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 Measurement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13934" y="2844105"/>
            <a:ext cx="2793632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Uninterrupted monitoring of air pollution, particulate matter, gases, temperature, and humidity across deployment areas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381790" y="2301379"/>
            <a:ext cx="3142080" cy="1788120"/>
          </a:xfrm>
          <a:custGeom>
            <a:avLst/>
            <a:gdLst/>
            <a:ahLst/>
            <a:cxnLst/>
            <a:rect l="l" t="t" r="r" b="b"/>
            <a:pathLst>
              <a:path w="3142080" h="1788120">
                <a:moveTo>
                  <a:pt x="0" y="0"/>
                </a:moveTo>
                <a:lnTo>
                  <a:pt x="3081092" y="0"/>
                </a:lnTo>
                <a:arcTo wR="60988" hR="60990" stAng="16200000" swAng="5400000"/>
                <a:lnTo>
                  <a:pt x="3142080" y="1788120"/>
                </a:lnTo>
                <a:lnTo>
                  <a:pt x="0" y="1788120"/>
                </a:lnTo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2301379"/>
            <a:ext cx="19050" cy="178812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</p:sp>
      <p:sp>
        <p:nvSpPr>
          <p:cNvPr id="12" name="Text 9"/>
          <p:cNvSpPr/>
          <p:nvPr/>
        </p:nvSpPr>
        <p:spPr>
          <a:xfrm>
            <a:off x="8556014" y="2475607"/>
            <a:ext cx="279363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Intelligence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56014" y="2844105"/>
            <a:ext cx="2793632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AQI monitoring, pollution trend analysis, historical records, and sensor status — all in one centralized platform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39710" y="4089499"/>
            <a:ext cx="6284160" cy="1252538"/>
          </a:xfrm>
          <a:custGeom>
            <a:avLst/>
            <a:gdLst/>
            <a:ahLst/>
            <a:cxnLst/>
            <a:rect l="l" t="t" r="r" b="b"/>
            <a:pathLst>
              <a:path w="6284160" h="1252538">
                <a:moveTo>
                  <a:pt x="0" y="0"/>
                </a:moveTo>
                <a:lnTo>
                  <a:pt x="6284160" y="0"/>
                </a:lnTo>
                <a:lnTo>
                  <a:pt x="6284160" y="1191548"/>
                </a:lnTo>
                <a:arcTo wR="60988" hR="60990" stAng="0" swAng="5400000"/>
                <a:lnTo>
                  <a:pt x="60988" y="1252538"/>
                </a:lnTo>
                <a:arcTo wR="60988" hR="60990" stAng="5400000" swAng="5400000"/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15" name="Shape 12"/>
          <p:cNvSpPr/>
          <p:nvPr/>
        </p:nvSpPr>
        <p:spPr>
          <a:xfrm>
            <a:off x="5239710" y="4089499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</p:sp>
      <p:sp>
        <p:nvSpPr>
          <p:cNvPr id="16" name="Text 13"/>
          <p:cNvSpPr/>
          <p:nvPr/>
        </p:nvSpPr>
        <p:spPr>
          <a:xfrm>
            <a:off x="5413934" y="4263727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Timely Action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413934" y="4632226"/>
            <a:ext cx="59357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health alert notifications empower citizens and authorities to take preventive measures before conditions worsen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233360" y="5529064"/>
            <a:ext cx="629686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improving environmental awareness, supporting public health protection, enabling pollution analysis, and promoting data-driven decision-making, this system is a meaningful step toward </a:t>
            </a:r>
            <a:r>
              <a:rPr lang="en-US" sz="13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sustainable urban living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Lato</vt:lpstr>
      <vt:lpstr>Gelasio</vt:lpstr>
      <vt:lpstr>Arial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2</cp:revision>
  <dcterms:created xsi:type="dcterms:W3CDTF">2026-08-19T06:28:56Z</dcterms:created>
  <dcterms:modified xsi:type="dcterms:W3CDTF">2026-10-04T18:27:50Z</dcterms:modified>
</cp:coreProperties>
</file>